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36576"/>
          </a:xfrm>
          <a:prstGeom prst="rect">
            <a:avLst/>
          </a:prstGeom>
          <a:solidFill>
            <a:srgbClr val="FF2D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05840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/>
            <a:r>
              <a:rPr sz="5200" b="1" i="0">
                <a:solidFill>
                  <a:srgbClr val="F0EEF8"/>
                </a:solidFill>
                <a:latin typeface="Georgia"/>
              </a:rPr>
              <a:t>We Can Move Faster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3017520"/>
            <a:ext cx="91440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/>
            <a:r>
              <a:rPr sz="2000" b="0" i="0">
                <a:solidFill>
                  <a:srgbClr val="8886A8"/>
                </a:solidFill>
                <a:latin typeface="Calibri"/>
              </a:rPr>
              <a:t>AI-powered innovation cycles that compress months into days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0" y="3840480"/>
            <a:ext cx="6858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ctr">
              <a:spcBef>
                <a:spcPts val="400"/>
              </a:spcBef>
            </a:pPr>
            <a:r>
              <a:rPr sz="1300">
                <a:solidFill>
                  <a:srgbClr val="8886A8"/>
                </a:solidFill>
                <a:latin typeface="Calibri"/>
              </a:rPr>
              <a:t>— A live demonstration built in a weekend — no engineering team required</a:t>
            </a:r>
          </a:p>
          <a:p>
            <a:pPr algn="ctr">
              <a:spcBef>
                <a:spcPts val="400"/>
              </a:spcBef>
            </a:pPr>
            <a:r>
              <a:rPr sz="1300">
                <a:solidFill>
                  <a:srgbClr val="8886A8"/>
                </a:solidFill>
                <a:latin typeface="Calibri"/>
              </a:rPr>
              <a:t>— The same method is available to us now</a:t>
            </a:r>
          </a:p>
          <a:p>
            <a:pPr algn="ctr">
              <a:spcBef>
                <a:spcPts val="400"/>
              </a:spcBef>
            </a:pPr>
            <a:r>
              <a:rPr sz="1300">
                <a:solidFill>
                  <a:srgbClr val="8886A8"/>
                </a:solidFill>
                <a:latin typeface="Calibri"/>
              </a:rPr>
              <a:t>— Our competitors are already moving this way</a:t>
            </a:r>
          </a:p>
        </p:txBody>
      </p:sp>
      <p:sp>
        <p:nvSpPr>
          <p:cNvPr id="6" name="Oval 5"/>
          <p:cNvSpPr/>
          <p:nvPr/>
        </p:nvSpPr>
        <p:spPr>
          <a:xfrm>
            <a:off x="5852160" y="1463040"/>
            <a:ext cx="109728" cy="109728"/>
          </a:xfrm>
          <a:prstGeom prst="ellipse">
            <a:avLst/>
          </a:prstGeom>
          <a:solidFill>
            <a:srgbClr val="FF2D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64592"/>
            <a:ext cx="12188952" cy="36576"/>
          </a:xfrm>
          <a:prstGeom prst="rect">
            <a:avLst/>
          </a:prstGeom>
          <a:solidFill>
            <a:srgbClr val="FF2D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l"/>
            <a:r>
              <a:rPr sz="3200" b="1" i="0">
                <a:solidFill>
                  <a:srgbClr val="F0EEF8"/>
                </a:solidFill>
                <a:latin typeface="Georgia"/>
              </a:rPr>
              <a:t>The Real Cost of Slow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1000"/>
              </a:spcBef>
            </a:pPr>
            <a:r>
              <a:rPr sz="1500">
                <a:solidFill>
                  <a:srgbClr val="F0EEF8"/>
                </a:solidFill>
                <a:latin typeface="Calibri"/>
              </a:rPr>
              <a:t>  ●  We have strong growth mandates and a full pipeline of ideas</a:t>
            </a:r>
          </a:p>
          <a:p>
            <a:pPr>
              <a:spcBef>
                <a:spcPts val="1000"/>
              </a:spcBef>
            </a:pPr>
            <a:r>
              <a:rPr sz="1500">
                <a:solidFill>
                  <a:srgbClr val="F0EEF8"/>
                </a:solidFill>
                <a:latin typeface="Calibri"/>
              </a:rPr>
              <a:t>  ●  The constraint is how fast we can learn — validate, launch, measure, iterate</a:t>
            </a:r>
          </a:p>
          <a:p>
            <a:pPr>
              <a:spcBef>
                <a:spcPts val="1000"/>
              </a:spcBef>
            </a:pPr>
            <a:r>
              <a:rPr sz="1500">
                <a:solidFill>
                  <a:srgbClr val="8886A8"/>
                </a:solidFill>
                <a:latin typeface="Calibri"/>
              </a:rPr>
              <a:t>  ●  Today: research takes weeks, tools take quarters, decisions lag behind the market</a:t>
            </a:r>
          </a:p>
          <a:p>
            <a:pPr>
              <a:spcBef>
                <a:spcPts val="1000"/>
              </a:spcBef>
            </a:pPr>
            <a:r>
              <a:rPr sz="1500">
                <a:solidFill>
                  <a:srgbClr val="FF2D6E"/>
                </a:solidFill>
                <a:latin typeface="Calibri"/>
              </a:rPr>
              <a:t>  ●  Every month of delay is a month a competitor learns what we don't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035040"/>
            <a:ext cx="11274552" cy="640080"/>
          </a:xfrm>
          <a:prstGeom prst="rect">
            <a:avLst/>
          </a:prstGeom>
          <a:solidFill>
            <a:srgbClr val="1A0A14"/>
          </a:solidFill>
        </p:spPr>
        <p:txBody>
          <a:bodyPr wrap="square">
            <a:spAutoFit/>
          </a:bodyPr>
          <a:lstStyle/>
          <a:p>
            <a:pPr algn="l"/>
            <a:r>
              <a:rPr sz="1100" i="1">
                <a:solidFill>
                  <a:srgbClr val="FF2D6E"/>
                </a:solidFill>
                <a:latin typeface="Calibri"/>
              </a:rPr>
              <a:t>→  The AI task force isn't protecting us — it's slowing us down while others accelerate.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64592"/>
            <a:ext cx="12188952" cy="36576"/>
          </a:xfrm>
          <a:prstGeom prst="rect">
            <a:avLst/>
          </a:prstGeom>
          <a:solidFill>
            <a:srgbClr val="FF2D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l"/>
            <a:r>
              <a:rPr sz="2800" b="1" i="0">
                <a:solidFill>
                  <a:srgbClr val="F0EEF8"/>
                </a:solidFill>
                <a:latin typeface="Georgia"/>
              </a:rPr>
              <a:t>Copilot vs. Factory — Two Very Different Positions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1371600" cy="594360"/>
          </a:xfrm>
          <a:prstGeom prst="rect">
            <a:avLst/>
          </a:prstGeom>
          <a:solidFill>
            <a:srgbClr val="202038"/>
          </a:solidFill>
        </p:spPr>
        <p:txBody>
          <a:bodyPr wrap="none">
            <a:spAutoFit/>
          </a:bodyPr>
          <a:lstStyle/>
          <a:p>
            <a:pPr algn="ctr"/>
            <a:r>
              <a:rPr sz="1200" b="1">
                <a:solidFill>
                  <a:srgbClr val="F0EEF8"/>
                </a:solidFill>
                <a:latin typeface="Calibri"/>
              </a:rPr>
              <a:t>Level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194560" y="1188720"/>
            <a:ext cx="8686800" cy="594360"/>
          </a:xfrm>
          <a:prstGeom prst="rect">
            <a:avLst/>
          </a:prstGeom>
          <a:solidFill>
            <a:srgbClr val="121222"/>
          </a:solidFill>
        </p:spPr>
        <p:txBody>
          <a:bodyPr wrap="none">
            <a:spAutoFit/>
          </a:bodyPr>
          <a:lstStyle/>
          <a:p>
            <a:pPr algn="l"/>
            <a:r>
              <a:rPr sz="1300" b="0">
                <a:solidFill>
                  <a:srgbClr val="8886A8"/>
                </a:solidFill>
                <a:latin typeface="Calibri"/>
              </a:rPr>
              <a:t>  AI autocomplete  (GitHub Copilot)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993392"/>
            <a:ext cx="1371600" cy="594360"/>
          </a:xfrm>
          <a:prstGeom prst="rect">
            <a:avLst/>
          </a:prstGeom>
          <a:solidFill>
            <a:srgbClr val="202038"/>
          </a:solidFill>
        </p:spPr>
        <p:txBody>
          <a:bodyPr wrap="none">
            <a:spAutoFit/>
          </a:bodyPr>
          <a:lstStyle/>
          <a:p>
            <a:pPr algn="ctr"/>
            <a:r>
              <a:rPr sz="1200" b="1">
                <a:solidFill>
                  <a:srgbClr val="F0EEF8"/>
                </a:solidFill>
                <a:latin typeface="Calibri"/>
              </a:rPr>
              <a:t>Level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194560" y="1993392"/>
            <a:ext cx="8686800" cy="594360"/>
          </a:xfrm>
          <a:prstGeom prst="rect">
            <a:avLst/>
          </a:prstGeom>
          <a:solidFill>
            <a:srgbClr val="121222"/>
          </a:solidFill>
        </p:spPr>
        <p:txBody>
          <a:bodyPr wrap="none">
            <a:spAutoFit/>
          </a:bodyPr>
          <a:lstStyle/>
          <a:p>
            <a:pPr algn="l"/>
            <a:r>
              <a:rPr sz="1300" b="0">
                <a:solidFill>
                  <a:srgbClr val="8886A8"/>
                </a:solidFill>
                <a:latin typeface="Calibri"/>
              </a:rPr>
              <a:t>  AI writes functions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798064"/>
            <a:ext cx="1371600" cy="594360"/>
          </a:xfrm>
          <a:prstGeom prst="rect">
            <a:avLst/>
          </a:prstGeom>
          <a:solidFill>
            <a:srgbClr val="202038"/>
          </a:solidFill>
        </p:spPr>
        <p:txBody>
          <a:bodyPr wrap="none">
            <a:spAutoFit/>
          </a:bodyPr>
          <a:lstStyle/>
          <a:p>
            <a:pPr algn="ctr"/>
            <a:r>
              <a:rPr sz="1200" b="1">
                <a:solidFill>
                  <a:srgbClr val="F0EEF8"/>
                </a:solidFill>
                <a:latin typeface="Calibri"/>
              </a:rPr>
              <a:t>Level 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194560" y="2798064"/>
            <a:ext cx="8686800" cy="594360"/>
          </a:xfrm>
          <a:prstGeom prst="rect">
            <a:avLst/>
          </a:prstGeom>
          <a:solidFill>
            <a:srgbClr val="121222"/>
          </a:solidFill>
        </p:spPr>
        <p:txBody>
          <a:bodyPr wrap="none">
            <a:spAutoFit/>
          </a:bodyPr>
          <a:lstStyle/>
          <a:p>
            <a:pPr algn="l"/>
            <a:r>
              <a:rPr sz="1300" b="0">
                <a:solidFill>
                  <a:srgbClr val="8886A8"/>
                </a:solidFill>
                <a:latin typeface="Calibri"/>
              </a:rPr>
              <a:t>  AI writes features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602736"/>
            <a:ext cx="1371600" cy="594360"/>
          </a:xfrm>
          <a:prstGeom prst="rect">
            <a:avLst/>
          </a:prstGeom>
          <a:solidFill>
            <a:srgbClr val="202038"/>
          </a:solidFill>
        </p:spPr>
        <p:txBody>
          <a:bodyPr wrap="none">
            <a:spAutoFit/>
          </a:bodyPr>
          <a:lstStyle/>
          <a:p>
            <a:pPr algn="ctr"/>
            <a:r>
              <a:rPr sz="1200" b="1">
                <a:solidFill>
                  <a:srgbClr val="F0EEF8"/>
                </a:solidFill>
                <a:latin typeface="Calibri"/>
              </a:rPr>
              <a:t>Level 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94560" y="3602736"/>
            <a:ext cx="8686800" cy="594360"/>
          </a:xfrm>
          <a:prstGeom prst="rect">
            <a:avLst/>
          </a:prstGeom>
          <a:solidFill>
            <a:srgbClr val="121222"/>
          </a:solidFill>
        </p:spPr>
        <p:txBody>
          <a:bodyPr wrap="none">
            <a:spAutoFit/>
          </a:bodyPr>
          <a:lstStyle/>
          <a:p>
            <a:pPr algn="l"/>
            <a:r>
              <a:rPr sz="1300" b="0">
                <a:solidFill>
                  <a:srgbClr val="F0EEF8"/>
                </a:solidFill>
                <a:latin typeface="Calibri"/>
              </a:rPr>
              <a:t>  Human supervises agents  ← most advanced enterprise teams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4407408"/>
            <a:ext cx="1371600" cy="594360"/>
          </a:xfrm>
          <a:prstGeom prst="rect">
            <a:avLst/>
          </a:prstGeom>
          <a:solidFill>
            <a:srgbClr val="FF2D6E"/>
          </a:solidFill>
        </p:spPr>
        <p:txBody>
          <a:bodyPr wrap="none">
            <a:spAutoFit/>
          </a:bodyPr>
          <a:lstStyle/>
          <a:p>
            <a:pPr algn="ctr"/>
            <a:r>
              <a:rPr sz="1200" b="1">
                <a:solidFill>
                  <a:srgbClr val="F0EEF8"/>
                </a:solidFill>
                <a:latin typeface="Calibri"/>
              </a:rPr>
              <a:t>Level 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194560" y="4407408"/>
            <a:ext cx="8686800" cy="594360"/>
          </a:xfrm>
          <a:prstGeom prst="rect">
            <a:avLst/>
          </a:prstGeom>
          <a:solidFill>
            <a:srgbClr val="200814"/>
          </a:solidFill>
        </p:spPr>
        <p:txBody>
          <a:bodyPr wrap="none">
            <a:spAutoFit/>
          </a:bodyPr>
          <a:lstStyle/>
          <a:p>
            <a:pPr algn="l"/>
            <a:r>
              <a:rPr sz="1300" b="1">
                <a:solidFill>
                  <a:srgbClr val="FF2D6E"/>
                </a:solidFill>
                <a:latin typeface="Calibri"/>
              </a:rPr>
              <a:t>  Autonomous software factory  ← this demo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6035040"/>
            <a:ext cx="11274552" cy="640080"/>
          </a:xfrm>
          <a:prstGeom prst="rect">
            <a:avLst/>
          </a:prstGeom>
          <a:solidFill>
            <a:srgbClr val="1A0A14"/>
          </a:solidFill>
        </p:spPr>
        <p:txBody>
          <a:bodyPr wrap="square">
            <a:spAutoFit/>
          </a:bodyPr>
          <a:lstStyle/>
          <a:p>
            <a:pPr algn="l"/>
            <a:r>
              <a:rPr sz="1100" i="1">
                <a:solidFill>
                  <a:srgbClr val="FF2D6E"/>
                </a:solidFill>
                <a:latin typeface="Calibri"/>
              </a:rPr>
              <a:t>→  Most Fortune 100 orgs are at Level 2–3. Level 5 exists in production today.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64592"/>
            <a:ext cx="12188952" cy="36576"/>
          </a:xfrm>
          <a:prstGeom prst="rect">
            <a:avLst/>
          </a:prstGeom>
          <a:solidFill>
            <a:srgbClr val="FF2D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l"/>
            <a:r>
              <a:rPr sz="2800" b="1" i="0">
                <a:solidFill>
                  <a:srgbClr val="F0EEF8"/>
                </a:solidFill>
                <a:latin typeface="Georgia"/>
              </a:rPr>
              <a:t>The Software Factory: Spec It, Run It, Learn From 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2651760" cy="457200"/>
          </a:xfrm>
          <a:prstGeom prst="rect">
            <a:avLst/>
          </a:prstGeom>
          <a:solidFill>
            <a:srgbClr val="FF2D6E"/>
          </a:solidFill>
        </p:spPr>
        <p:txBody>
          <a:bodyPr wrap="none">
            <a:spAutoFit/>
          </a:bodyPr>
          <a:lstStyle/>
          <a:p>
            <a:pPr algn="ctr"/>
            <a:r>
              <a:rPr sz="1800" b="1">
                <a:solidFill>
                  <a:srgbClr val="F0EEF8"/>
                </a:solidFill>
                <a:latin typeface="Calibri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737360"/>
            <a:ext cx="2651760" cy="1645920"/>
          </a:xfrm>
          <a:prstGeom prst="rect">
            <a:avLst/>
          </a:prstGeom>
          <a:solidFill>
            <a:srgbClr val="121222"/>
          </a:solidFill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F0EEF8"/>
                </a:solidFill>
                <a:latin typeface="Calibri"/>
              </a:rPr>
              <a:t>Teams write what they need in plain English</a:t>
            </a:r>
          </a:p>
          <a:p>
            <a:pPr>
              <a:spcBef>
                <a:spcPts val="600"/>
              </a:spcBef>
            </a:pPr>
            <a:r>
              <a:rPr sz="1100">
                <a:solidFill>
                  <a:srgbClr val="8886A8"/>
                </a:solidFill>
                <a:latin typeface="Calibri"/>
              </a:rPr>
              <a:t>No IT ticket. No agency brief. Just a spec.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383280" y="1188720"/>
            <a:ext cx="2651760" cy="457200"/>
          </a:xfrm>
          <a:prstGeom prst="rect">
            <a:avLst/>
          </a:prstGeom>
          <a:solidFill>
            <a:srgbClr val="FF2D6E"/>
          </a:solidFill>
        </p:spPr>
        <p:txBody>
          <a:bodyPr wrap="none">
            <a:spAutoFit/>
          </a:bodyPr>
          <a:lstStyle/>
          <a:p>
            <a:pPr algn="ctr"/>
            <a:r>
              <a:rPr sz="1800" b="1">
                <a:solidFill>
                  <a:srgbClr val="F0EEF8"/>
                </a:solidFill>
                <a:latin typeface="Calibri"/>
              </a:rPr>
              <a:t>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383280" y="1737360"/>
            <a:ext cx="2651760" cy="1645920"/>
          </a:xfrm>
          <a:prstGeom prst="rect">
            <a:avLst/>
          </a:prstGeom>
          <a:solidFill>
            <a:srgbClr val="121222"/>
          </a:solidFill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F0EEF8"/>
                </a:solidFill>
                <a:latin typeface="Calibri"/>
              </a:rPr>
              <a:t>An AI pipeline builds, tests, and delivers automatically</a:t>
            </a:r>
          </a:p>
          <a:p>
            <a:pPr>
              <a:spcBef>
                <a:spcPts val="600"/>
              </a:spcBef>
            </a:pPr>
            <a:r>
              <a:rPr sz="1100">
                <a:solidFill>
                  <a:srgbClr val="8886A8"/>
                </a:solidFill>
                <a:latin typeface="Calibri"/>
              </a:rPr>
              <a:t>Kilroy orchestrates AI agents through every stage.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09360" y="1188720"/>
            <a:ext cx="2651760" cy="457200"/>
          </a:xfrm>
          <a:prstGeom prst="rect">
            <a:avLst/>
          </a:prstGeom>
          <a:solidFill>
            <a:srgbClr val="FF2D6E"/>
          </a:solidFill>
        </p:spPr>
        <p:txBody>
          <a:bodyPr wrap="none">
            <a:spAutoFit/>
          </a:bodyPr>
          <a:lstStyle/>
          <a:p>
            <a:pPr algn="ctr"/>
            <a:r>
              <a:rPr sz="1800" b="1">
                <a:solidFill>
                  <a:srgbClr val="F0EEF8"/>
                </a:solidFill>
                <a:latin typeface="Calibri"/>
              </a:rPr>
              <a:t>03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09360" y="1737360"/>
            <a:ext cx="2651760" cy="1645920"/>
          </a:xfrm>
          <a:prstGeom prst="rect">
            <a:avLst/>
          </a:prstGeom>
          <a:solidFill>
            <a:srgbClr val="121222"/>
          </a:solidFill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F0EEF8"/>
                </a:solidFill>
                <a:latin typeface="Calibri"/>
              </a:rPr>
              <a:t>Humans govern at two points only</a:t>
            </a:r>
          </a:p>
          <a:p>
            <a:pPr>
              <a:spcBef>
                <a:spcPts val="600"/>
              </a:spcBef>
            </a:pPr>
            <a:r>
              <a:rPr sz="1100">
                <a:solidFill>
                  <a:srgbClr val="8886A8"/>
                </a:solidFill>
                <a:latin typeface="Calibri"/>
              </a:rPr>
              <a:t>Define the goal. Evaluate the result. AI does the rest.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235440" y="1188720"/>
            <a:ext cx="2651760" cy="457200"/>
          </a:xfrm>
          <a:prstGeom prst="rect">
            <a:avLst/>
          </a:prstGeom>
          <a:solidFill>
            <a:srgbClr val="FF2D6E"/>
          </a:solidFill>
        </p:spPr>
        <p:txBody>
          <a:bodyPr wrap="none">
            <a:spAutoFit/>
          </a:bodyPr>
          <a:lstStyle/>
          <a:p>
            <a:pPr algn="ctr"/>
            <a:r>
              <a:rPr sz="1800" b="1">
                <a:solidFill>
                  <a:srgbClr val="F0EEF8"/>
                </a:solidFill>
                <a:latin typeface="Calibri"/>
              </a:rPr>
              <a:t>04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35440" y="1737360"/>
            <a:ext cx="2651760" cy="1645920"/>
          </a:xfrm>
          <a:prstGeom prst="rect">
            <a:avLst/>
          </a:prstGeom>
          <a:solidFill>
            <a:srgbClr val="121222"/>
          </a:solidFill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F0EEF8"/>
                </a:solidFill>
                <a:latin typeface="Calibri"/>
              </a:rPr>
              <a:t>Failures loop back — the system self-corrects</a:t>
            </a:r>
          </a:p>
          <a:p>
            <a:pPr>
              <a:spcBef>
                <a:spcPts val="600"/>
              </a:spcBef>
            </a:pPr>
            <a:r>
              <a:rPr sz="1100">
                <a:solidFill>
                  <a:srgbClr val="8886A8"/>
                </a:solidFill>
                <a:latin typeface="Calibri"/>
              </a:rPr>
              <a:t>Git checkpoints at every stage. Fully auditable.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657600"/>
            <a:ext cx="11247120" cy="914400"/>
          </a:xfrm>
          <a:prstGeom prst="rect">
            <a:avLst/>
          </a:prstGeom>
          <a:solidFill>
            <a:srgbClr val="0C081A"/>
          </a:solidFill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0EEF8"/>
                </a:solidFill>
                <a:latin typeface="Calibri"/>
              </a:rPr>
              <a:t>Applied to CPG: concept testing tools, consumer survey platforms, launch trackers, campaign generators — built in days, not quarters.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035040"/>
            <a:ext cx="11274552" cy="640080"/>
          </a:xfrm>
          <a:prstGeom prst="rect">
            <a:avLst/>
          </a:prstGeom>
          <a:solidFill>
            <a:srgbClr val="1A0A14"/>
          </a:solidFill>
        </p:spPr>
        <p:txBody>
          <a:bodyPr wrap="square">
            <a:spAutoFit/>
          </a:bodyPr>
          <a:lstStyle/>
          <a:p>
            <a:pPr algn="l"/>
            <a:r>
              <a:rPr sz="1100" i="1">
                <a:solidFill>
                  <a:srgbClr val="FF2D6E"/>
                </a:solidFill>
                <a:latin typeface="Calibri"/>
              </a:rPr>
              <a:t>→  Your innovation team becomes the builder. IT becomes the governance layer.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64592"/>
            <a:ext cx="12188952" cy="36576"/>
          </a:xfrm>
          <a:prstGeom prst="rect">
            <a:avLst/>
          </a:prstGeom>
          <a:solidFill>
            <a:srgbClr val="FF2D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l"/>
            <a:r>
              <a:rPr sz="2800" b="1" i="0">
                <a:solidFill>
                  <a:srgbClr val="F0EEF8"/>
                </a:solidFill>
                <a:latin typeface="Georgia"/>
              </a:rPr>
              <a:t>What This Looks Like in Practice — Built in a Weekend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2011680" cy="457200"/>
          </a:xfrm>
          <a:prstGeom prst="rect">
            <a:avLst/>
          </a:prstGeom>
          <a:solidFill>
            <a:srgbClr val="FF2D6E"/>
          </a:solidFill>
        </p:spPr>
        <p:txBody>
          <a:bodyPr wrap="none">
            <a:spAutoFit/>
          </a:bodyPr>
          <a:lstStyle/>
          <a:p>
            <a:pPr algn="ctr"/>
            <a:r>
              <a:rPr sz="1300" b="1">
                <a:solidFill>
                  <a:srgbClr val="F0EEF8"/>
                </a:solidFill>
                <a:latin typeface="Calibri"/>
              </a:rPr>
              <a:t>MON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737360"/>
            <a:ext cx="2011680" cy="731520"/>
          </a:xfrm>
          <a:prstGeom prst="rect">
            <a:avLst/>
          </a:prstGeom>
          <a:solidFill>
            <a:srgbClr val="121222"/>
          </a:solidFill>
        </p:spPr>
        <p:txBody>
          <a:bodyPr wrap="none">
            <a:spAutoFit/>
          </a:bodyPr>
          <a:lstStyle/>
          <a:p>
            <a:pPr algn="ctr"/>
            <a:r>
              <a:rPr sz="1200">
                <a:solidFill>
                  <a:srgbClr val="F0EEF8"/>
                </a:solidFill>
                <a:latin typeface="Calibri"/>
              </a:rPr>
              <a:t>Define hypothesis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0" y="1188720"/>
            <a:ext cx="2011680" cy="457200"/>
          </a:xfrm>
          <a:prstGeom prst="rect">
            <a:avLst/>
          </a:prstGeom>
          <a:solidFill>
            <a:srgbClr val="7B61FF"/>
          </a:solidFill>
        </p:spPr>
        <p:txBody>
          <a:bodyPr wrap="none">
            <a:spAutoFit/>
          </a:bodyPr>
          <a:lstStyle/>
          <a:p>
            <a:pPr algn="ctr"/>
            <a:r>
              <a:rPr sz="1300" b="1">
                <a:solidFill>
                  <a:srgbClr val="F0EEF8"/>
                </a:solidFill>
                <a:latin typeface="Calibri"/>
              </a:rPr>
              <a:t>TUE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0" y="1737360"/>
            <a:ext cx="2011680" cy="731520"/>
          </a:xfrm>
          <a:prstGeom prst="rect">
            <a:avLst/>
          </a:prstGeom>
          <a:solidFill>
            <a:srgbClr val="121222"/>
          </a:solidFill>
        </p:spPr>
        <p:txBody>
          <a:bodyPr wrap="none">
            <a:spAutoFit/>
          </a:bodyPr>
          <a:lstStyle/>
          <a:p>
            <a:pPr algn="ctr"/>
            <a:r>
              <a:rPr sz="1200">
                <a:solidFill>
                  <a:srgbClr val="F0EEF8"/>
                </a:solidFill>
                <a:latin typeface="Calibri"/>
              </a:rPr>
              <a:t>AI builds the tool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0" y="1188720"/>
            <a:ext cx="2011680" cy="457200"/>
          </a:xfrm>
          <a:prstGeom prst="rect">
            <a:avLst/>
          </a:prstGeom>
          <a:solidFill>
            <a:srgbClr val="00E5A0"/>
          </a:solidFill>
        </p:spPr>
        <p:txBody>
          <a:bodyPr wrap="none">
            <a:spAutoFit/>
          </a:bodyPr>
          <a:lstStyle/>
          <a:p>
            <a:pPr algn="ctr"/>
            <a:r>
              <a:rPr sz="1300" b="1">
                <a:solidFill>
                  <a:srgbClr val="F0EEF8"/>
                </a:solidFill>
                <a:latin typeface="Calibri"/>
              </a:rPr>
              <a:t>WED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0" y="1737360"/>
            <a:ext cx="2011680" cy="731520"/>
          </a:xfrm>
          <a:prstGeom prst="rect">
            <a:avLst/>
          </a:prstGeom>
          <a:solidFill>
            <a:srgbClr val="121222"/>
          </a:solidFill>
        </p:spPr>
        <p:txBody>
          <a:bodyPr wrap="none">
            <a:spAutoFit/>
          </a:bodyPr>
          <a:lstStyle/>
          <a:p>
            <a:pPr algn="ctr"/>
            <a:r>
              <a:rPr sz="1200">
                <a:solidFill>
                  <a:srgbClr val="F0EEF8"/>
                </a:solidFill>
                <a:latin typeface="Calibri"/>
              </a:rPr>
              <a:t>Consumer panel runs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0" y="1188720"/>
            <a:ext cx="2011680" cy="457200"/>
          </a:xfrm>
          <a:prstGeom prst="rect">
            <a:avLst/>
          </a:prstGeom>
          <a:solidFill>
            <a:srgbClr val="FF2D6E"/>
          </a:solidFill>
        </p:spPr>
        <p:txBody>
          <a:bodyPr wrap="none">
            <a:spAutoFit/>
          </a:bodyPr>
          <a:lstStyle/>
          <a:p>
            <a:pPr algn="ctr"/>
            <a:r>
              <a:rPr sz="1300" b="1">
                <a:solidFill>
                  <a:srgbClr val="F0EEF8"/>
                </a:solidFill>
                <a:latin typeface="Calibri"/>
              </a:rPr>
              <a:t>THU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0" y="1737360"/>
            <a:ext cx="2011680" cy="731520"/>
          </a:xfrm>
          <a:prstGeom prst="rect">
            <a:avLst/>
          </a:prstGeom>
          <a:solidFill>
            <a:srgbClr val="121222"/>
          </a:solidFill>
        </p:spPr>
        <p:txBody>
          <a:bodyPr wrap="none">
            <a:spAutoFit/>
          </a:bodyPr>
          <a:lstStyle/>
          <a:p>
            <a:pPr algn="ctr"/>
            <a:r>
              <a:rPr sz="1200">
                <a:solidFill>
                  <a:srgbClr val="F0EEF8"/>
                </a:solidFill>
                <a:latin typeface="Calibri"/>
              </a:rPr>
              <a:t>AI analyses &amp; recommends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0" y="1188720"/>
            <a:ext cx="2011680" cy="457200"/>
          </a:xfrm>
          <a:prstGeom prst="rect">
            <a:avLst/>
          </a:prstGeom>
          <a:solidFill>
            <a:srgbClr val="7B61FF"/>
          </a:solidFill>
        </p:spPr>
        <p:txBody>
          <a:bodyPr wrap="none">
            <a:spAutoFit/>
          </a:bodyPr>
          <a:lstStyle/>
          <a:p>
            <a:pPr algn="ctr"/>
            <a:r>
              <a:rPr sz="1300" b="1">
                <a:solidFill>
                  <a:srgbClr val="F0EEF8"/>
                </a:solidFill>
                <a:latin typeface="Calibri"/>
              </a:rPr>
              <a:t>FRI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0" y="1737360"/>
            <a:ext cx="2011680" cy="731520"/>
          </a:xfrm>
          <a:prstGeom prst="rect">
            <a:avLst/>
          </a:prstGeom>
          <a:solidFill>
            <a:srgbClr val="121222"/>
          </a:solidFill>
        </p:spPr>
        <p:txBody>
          <a:bodyPr wrap="none">
            <a:spAutoFit/>
          </a:bodyPr>
          <a:lstStyle/>
          <a:p>
            <a:pPr algn="ctr"/>
            <a:r>
              <a:rPr sz="1200">
                <a:solidFill>
                  <a:srgbClr val="F0EEF8"/>
                </a:solidFill>
                <a:latin typeface="Calibri"/>
              </a:rPr>
              <a:t>Next concept is live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2834640"/>
            <a:ext cx="11247120" cy="2377440"/>
          </a:xfrm>
          <a:prstGeom prst="rect">
            <a:avLst/>
          </a:prstGeom>
          <a:solidFill>
            <a:srgbClr val="10061A"/>
          </a:solidFill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1200" b="1">
                <a:solidFill>
                  <a:srgbClr val="FF2D6E"/>
                </a:solidFill>
                <a:latin typeface="Calibri"/>
              </a:rPr>
              <a:t>PROOF OF CONCEPT: SNATCH</a:t>
            </a:r>
          </a:p>
          <a:p>
            <a:pPr>
              <a:spcBef>
                <a:spcPts val="600"/>
              </a:spcBef>
            </a:pPr>
            <a:r>
              <a:rPr sz="1400" b="0">
                <a:solidFill>
                  <a:srgbClr val="F0EEF8"/>
                </a:solidFill>
                <a:latin typeface="Calibri"/>
              </a:rPr>
              <a:t>A fully functional AI brand marketing platform — built in one weekend using this exact method.</a:t>
            </a:r>
          </a:p>
          <a:p>
            <a:pPr>
              <a:spcBef>
                <a:spcPts val="600"/>
              </a:spcBef>
            </a:pPr>
            <a:r>
              <a:rPr sz="1300" b="0">
                <a:solidFill>
                  <a:srgbClr val="8886A8"/>
                </a:solidFill>
                <a:latin typeface="Calibri"/>
              </a:rPr>
              <a:t>Enter any brand's website URL → get brand DNA analysis + social media campaigns + AI-generated images.</a:t>
            </a:r>
          </a:p>
          <a:p>
            <a:pPr>
              <a:spcBef>
                <a:spcPts val="600"/>
              </a:spcBef>
            </a:pPr>
            <a:r>
              <a:rPr sz="1300" b="1">
                <a:solidFill>
                  <a:srgbClr val="00E5A0"/>
                </a:solidFill>
                <a:latin typeface="Calibri"/>
              </a:rPr>
              <a:t>No engineering team. No agency. No quarters-long roadmap.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6035040"/>
            <a:ext cx="11274552" cy="640080"/>
          </a:xfrm>
          <a:prstGeom prst="rect">
            <a:avLst/>
          </a:prstGeom>
          <a:solidFill>
            <a:srgbClr val="1A0A14"/>
          </a:solidFill>
        </p:spPr>
        <p:txBody>
          <a:bodyPr wrap="square">
            <a:spAutoFit/>
          </a:bodyPr>
          <a:lstStyle/>
          <a:p>
            <a:pPr algn="l"/>
            <a:r>
              <a:rPr sz="1100" i="1">
                <a:solidFill>
                  <a:srgbClr val="FF2D6E"/>
                </a:solidFill>
                <a:latin typeface="Calibri"/>
              </a:rPr>
              <a:t>→  A weekend. One person. A production-grade tool. That is the new baseline for our innovation org.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64592"/>
            <a:ext cx="12188952" cy="36576"/>
          </a:xfrm>
          <a:prstGeom prst="rect">
            <a:avLst/>
          </a:prstGeom>
          <a:solidFill>
            <a:srgbClr val="FF2D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l"/>
            <a:r>
              <a:rPr sz="3200" b="1" i="0">
                <a:solidFill>
                  <a:srgbClr val="F0EEF8"/>
                </a:solidFill>
                <a:latin typeface="Georgia"/>
              </a:rPr>
              <a:t>One Pilot. 30 Days. A New Innovation Pace.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5303520" cy="4114800"/>
          </a:xfrm>
          <a:prstGeom prst="rect">
            <a:avLst/>
          </a:prstGeom>
          <a:solidFill>
            <a:srgbClr val="121222"/>
          </a:solidFill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</a:pPr>
            <a:r>
              <a:rPr sz="1100" b="1">
                <a:solidFill>
                  <a:srgbClr val="FF2D6E"/>
                </a:solidFill>
                <a:latin typeface="Calibri"/>
              </a:rPr>
              <a:t>THE SITUATION</a:t>
            </a:r>
          </a:p>
          <a:p>
            <a:pPr>
              <a:spcBef>
                <a:spcPts val="800"/>
              </a:spcBef>
            </a:pPr>
            <a:r>
              <a:rPr sz="1300" b="0">
                <a:solidFill>
                  <a:srgbClr val="F0EEF8"/>
                </a:solidFill>
                <a:latin typeface="Calibri"/>
              </a:rPr>
              <a:t>AI task force friction is costing us speed we cannot afford to lose.</a:t>
            </a:r>
          </a:p>
          <a:p>
            <a:pPr>
              <a:spcBef>
                <a:spcPts val="800"/>
              </a:spcBef>
            </a:pPr>
            <a:r>
              <a:rPr sz="1300" b="0">
                <a:solidFill>
                  <a:srgbClr val="8886A8"/>
                </a:solidFill>
                <a:latin typeface="Calibri"/>
              </a:rPr>
              <a:t>Our competitors are compressing innovation cycles.</a:t>
            </a:r>
          </a:p>
          <a:p>
            <a:pPr>
              <a:spcBef>
                <a:spcPts val="800"/>
              </a:spcBef>
            </a:pPr>
            <a:r>
              <a:rPr sz="1300" b="0">
                <a:solidFill>
                  <a:srgbClr val="F0EEF8"/>
                </a:solidFill>
                <a:latin typeface="Calibri"/>
              </a:rPr>
              <a:t>We have the growth mandate. We need the velocity.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1188720"/>
            <a:ext cx="5303520" cy="4114800"/>
          </a:xfrm>
          <a:prstGeom prst="rect">
            <a:avLst/>
          </a:prstGeom>
          <a:solidFill>
            <a:srgbClr val="140620"/>
          </a:solidFill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</a:pPr>
            <a:r>
              <a:rPr sz="1100" b="1">
                <a:solidFill>
                  <a:srgbClr val="FF2D6E"/>
                </a:solidFill>
                <a:latin typeface="Calibri"/>
              </a:rPr>
              <a:t>THE ASK</a:t>
            </a:r>
          </a:p>
          <a:p>
            <a:pPr>
              <a:spcBef>
                <a:spcPts val="1000"/>
              </a:spcBef>
            </a:pPr>
            <a:r>
              <a:rPr sz="1300" b="0">
                <a:solidFill>
                  <a:srgbClr val="F0EEF8"/>
                </a:solidFill>
                <a:latin typeface="Calibri"/>
              </a:rPr>
              <a:t>1.  Designate one innovation workstream for a 30-day autonomous AI pilot.</a:t>
            </a:r>
          </a:p>
          <a:p>
            <a:pPr>
              <a:spcBef>
                <a:spcPts val="1000"/>
              </a:spcBef>
            </a:pPr>
            <a:r>
              <a:rPr sz="1300" b="0">
                <a:solidFill>
                  <a:srgbClr val="F0EEF8"/>
                </a:solidFill>
                <a:latin typeface="Calibri"/>
              </a:rPr>
              <a:t>2.  Remove task force friction for this pilot — measure the speed difference.</a:t>
            </a:r>
          </a:p>
          <a:p>
            <a:pPr>
              <a:spcBef>
                <a:spcPts val="1000"/>
              </a:spcBef>
            </a:pPr>
            <a:r>
              <a:rPr sz="1300" b="0">
                <a:solidFill>
                  <a:srgbClr val="F0EEF8"/>
                </a:solidFill>
                <a:latin typeface="Calibri"/>
              </a:rPr>
              <a:t>3.  Use results to define a new model for how our innovation org operates.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035040"/>
            <a:ext cx="11274552" cy="640080"/>
          </a:xfrm>
          <a:prstGeom prst="rect">
            <a:avLst/>
          </a:prstGeom>
          <a:solidFill>
            <a:srgbClr val="1A0A14"/>
          </a:solidFill>
        </p:spPr>
        <p:txBody>
          <a:bodyPr wrap="square">
            <a:spAutoFit/>
          </a:bodyPr>
          <a:lstStyle/>
          <a:p>
            <a:pPr algn="l"/>
            <a:r>
              <a:rPr sz="1100" i="1">
                <a:solidFill>
                  <a:srgbClr val="FF2D6E"/>
                </a:solidFill>
                <a:latin typeface="Calibri"/>
              </a:rPr>
              <a:t>→  We don't need more resources. We need to remove the drag. This is how we get ahead of the growth pressure — and stay there.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